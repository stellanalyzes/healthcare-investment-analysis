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7" r:id="rId4"/>
    <p:sldId id="278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D3A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D3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1F4D3A"/>
                </a:solidFill>
                <a:latin typeface="Times New Roman" panose="02020603050405020304" pitchFamily="18" charset="0"/>
              </a:rPr>
              <a:t>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Revenue/Encounter ($)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C5E0B4"/>
              </a:solidFill>
            </c:spPr>
            <c:extLst>
              <c:ext xmlns:c16="http://schemas.microsoft.com/office/drawing/2014/chart" uri="{C3380CC4-5D6E-409C-BE32-E72D297353CC}">
                <c16:uniqueId val="{00000001-0E8E-489E-903D-08D3607F068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0E8E-489E-903D-08D3607F0689}"/>
              </c:ext>
            </c:extLst>
          </c:dPt>
          <c:dPt>
            <c:idx val="2"/>
            <c:invertIfNegative val="0"/>
            <c:bubble3D val="0"/>
            <c:spPr>
              <a:solidFill>
                <a:srgbClr val="1F4D3A"/>
              </a:solidFill>
            </c:spPr>
            <c:extLst>
              <c:ext xmlns:c16="http://schemas.microsoft.com/office/drawing/2014/chart" uri="{C3380CC4-5D6E-409C-BE32-E72D297353CC}">
                <c16:uniqueId val="{00000005-0E8E-489E-903D-08D3607F068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$2.32M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8E-489E-903D-08D3607F068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$4.07M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8E-489E-903D-08D3607F068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$6.63M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E8E-489E-903D-08D3607F0689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GGH</c:v>
                </c:pt>
                <c:pt idx="1">
                  <c:v>ECH</c:v>
                </c:pt>
                <c:pt idx="2">
                  <c:v>RMC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644</c:v>
                </c:pt>
                <c:pt idx="1">
                  <c:v>1163</c:v>
                </c:pt>
                <c:pt idx="2">
                  <c:v>1744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8E-489E-903D-08D3607F06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D3A"/>
                </a:solidFill>
                <a:latin typeface="Arial"/>
              </a:defRPr>
            </a:pPr>
            <a:r>
              <a:rPr lang="en-US" sz="1200" b="1" i="0" u="none" strike="noStrike" dirty="0">
                <a:solidFill>
                  <a:srgbClr val="1F4D3A"/>
                </a:solidFill>
                <a:latin typeface="Times New Roman" panose="02020603050405020304" pitchFamily="18" charset="0"/>
              </a:rPr>
              <a:t>Mortality Rate (%) — lower is stronger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563896179644211E-2"/>
          <c:y val="0.24172576832151299"/>
          <c:w val="0.94399066783318752"/>
          <c:h val="0.6907557100575193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Mortality Rate (%)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C5E0B4"/>
              </a:solidFill>
            </c:spPr>
            <c:extLst>
              <c:ext xmlns:c16="http://schemas.microsoft.com/office/drawing/2014/chart" uri="{C3380CC4-5D6E-409C-BE32-E72D297353CC}">
                <c16:uniqueId val="{00000001-C980-4BF9-96EA-A24E099DC57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C980-4BF9-96EA-A24E099DC573}"/>
              </c:ext>
            </c:extLst>
          </c:dPt>
          <c:dPt>
            <c:idx val="2"/>
            <c:invertIfNegative val="0"/>
            <c:bubble3D val="0"/>
            <c:spPr>
              <a:solidFill>
                <a:srgbClr val="1F4D3A"/>
              </a:solidFill>
            </c:spPr>
            <c:extLst>
              <c:ext xmlns:c16="http://schemas.microsoft.com/office/drawing/2014/chart" uri="{C3380CC4-5D6E-409C-BE32-E72D297353CC}">
                <c16:uniqueId val="{00000005-C980-4BF9-96EA-A24E099DC57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GGH</c:v>
                </c:pt>
                <c:pt idx="1">
                  <c:v>ECH</c:v>
                </c:pt>
                <c:pt idx="2">
                  <c:v>RMC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2.64</c:v>
                </c:pt>
                <c:pt idx="1">
                  <c:v>4.37</c:v>
                </c:pt>
                <c:pt idx="2">
                  <c:v>6.16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80-4BF9-96EA-A24E099DC5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4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D3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1F4D3A"/>
                </a:solidFill>
                <a:latin typeface="Times New Roman" panose="02020603050405020304" pitchFamily="18" charset="0"/>
              </a:rPr>
              <a:t>Denial Rate (%) — lower is stronger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4461152882205512E-2"/>
          <c:y val="0.18023290060012795"/>
          <c:w val="0.93107769423558895"/>
          <c:h val="0.7402688452639755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Denial Rate (%)</c:v>
                </c:pt>
              </c:strCache>
            </c:strRef>
          </c:tx>
          <c:spPr>
            <a:solidFill>
              <a:srgbClr val="1F4D3A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8C-4099-8EB0-5D2A3DAC45F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2C8C-4099-8EB0-5D2A3DAC45F3}"/>
              </c:ext>
            </c:extLst>
          </c:dPt>
          <c:dPt>
            <c:idx val="2"/>
            <c:invertIfNegative val="0"/>
            <c:bubble3D val="0"/>
            <c:spPr>
              <a:solidFill>
                <a:srgbClr val="C5E0B4"/>
              </a:solidFill>
            </c:spPr>
            <c:extLst>
              <c:ext xmlns:c16="http://schemas.microsoft.com/office/drawing/2014/chart" uri="{C3380CC4-5D6E-409C-BE32-E72D297353CC}">
                <c16:uniqueId val="{00000005-2C8C-4099-8EB0-5D2A3DAC45F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GGH</c:v>
                </c:pt>
                <c:pt idx="1">
                  <c:v>ECH</c:v>
                </c:pt>
                <c:pt idx="2">
                  <c:v>RMC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50.58</c:v>
                </c:pt>
                <c:pt idx="1">
                  <c:v>28.77</c:v>
                </c:pt>
                <c:pt idx="2">
                  <c:v>14.55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8C-4099-8EB0-5D2A3DAC45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Avg ED Wait Time (minutes) — lower is stronger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0370370370370372E-2"/>
          <c:y val="9.9881796690307334E-2"/>
          <c:w val="0.94770888543812959"/>
          <c:h val="0.8325996816887251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ED Wait (min)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D3A"/>
              </a:solidFill>
            </c:spPr>
            <c:extLst>
              <c:ext xmlns:c16="http://schemas.microsoft.com/office/drawing/2014/chart" uri="{C3380CC4-5D6E-409C-BE32-E72D297353CC}">
                <c16:uniqueId val="{00000001-9C25-4F78-B968-0724393BA70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9C25-4F78-B968-0724393BA707}"/>
              </c:ext>
            </c:extLst>
          </c:dPt>
          <c:dPt>
            <c:idx val="2"/>
            <c:invertIfNegative val="0"/>
            <c:bubble3D val="0"/>
            <c:spPr>
              <a:solidFill>
                <a:srgbClr val="C5E0B4"/>
              </a:solidFill>
            </c:spPr>
            <c:extLst>
              <c:ext xmlns:c16="http://schemas.microsoft.com/office/drawing/2014/chart" uri="{C3380CC4-5D6E-409C-BE32-E72D297353CC}">
                <c16:uniqueId val="{00000005-9C25-4F78-B968-0724393BA70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GGH</c:v>
                </c:pt>
                <c:pt idx="1">
                  <c:v>ECH</c:v>
                </c:pt>
                <c:pt idx="2">
                  <c:v>RMC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33.5</c:v>
                </c:pt>
                <c:pt idx="1">
                  <c:v>45.95</c:v>
                </c:pt>
                <c:pt idx="2">
                  <c:v>61.11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25-4F78-B968-0724393BA7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>
                <a:solidFill>
                  <a:srgbClr val="1F4D3A"/>
                </a:solidFill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b="1">
          <a:solidFill>
            <a:srgbClr val="1F4D3A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D3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1F4D3A"/>
                </a:solidFill>
                <a:latin typeface="Times New Roman" panose="02020603050405020304" pitchFamily="18" charset="0"/>
              </a:rPr>
              <a:t>Encounters per Bed per Year — lower means more headroom to scale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Encounters / Bed / Year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BB08-4606-B44C-F7B0411C757F}"/>
              </c:ext>
            </c:extLst>
          </c:dPt>
          <c:dPt>
            <c:idx val="1"/>
            <c:invertIfNegative val="0"/>
            <c:bubble3D val="0"/>
            <c:spPr>
              <a:solidFill>
                <a:srgbClr val="1F4D3A"/>
              </a:solidFill>
            </c:spPr>
            <c:extLst>
              <c:ext xmlns:c16="http://schemas.microsoft.com/office/drawing/2014/chart" uri="{C3380CC4-5D6E-409C-BE32-E72D297353CC}">
                <c16:uniqueId val="{00000003-BB08-4606-B44C-F7B0411C757F}"/>
              </c:ext>
            </c:extLst>
          </c:dPt>
          <c:dPt>
            <c:idx val="2"/>
            <c:invertIfNegative val="0"/>
            <c:bubble3D val="0"/>
            <c:spPr>
              <a:solidFill>
                <a:srgbClr val="C5E0B4"/>
              </a:solidFill>
            </c:spPr>
            <c:extLst>
              <c:ext xmlns:c16="http://schemas.microsoft.com/office/drawing/2014/chart" uri="{C3380CC4-5D6E-409C-BE32-E72D297353CC}">
                <c16:uniqueId val="{00000005-BB08-4606-B44C-F7B0411C757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F4D3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GGH</c:v>
                </c:pt>
                <c:pt idx="1">
                  <c:v>ECH</c:v>
                </c:pt>
                <c:pt idx="2">
                  <c:v>RMC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6.43</c:v>
                </c:pt>
                <c:pt idx="1">
                  <c:v>9.2100000000000009</c:v>
                </c:pt>
                <c:pt idx="2">
                  <c:v>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08-4606-B44C-F7B0411C75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1F4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D3A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1F4D3A"/>
                </a:solidFill>
                <a:latin typeface="Times New Roman" panose="02020603050405020304" pitchFamily="18" charset="0"/>
              </a:rPr>
              <a:t>Weighted Total Score (of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Total Score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4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Greenfield General
(GGH)</c:v>
                </c:pt>
                <c:pt idx="1">
                  <c:v>Eastpoint Community
(ECH)</c:v>
                </c:pt>
                <c:pt idx="2">
                  <c:v>Riverside Medical
(RMC)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6.09</c:v>
                </c:pt>
                <c:pt idx="2">
                  <c:v>5.93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54-4F08-BE05-2162A4C3F9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88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EDFF-36A1-6AFC-ADA6-EFBADCBF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7F341-EF6E-5F1A-034F-B8ABB62BD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24D36-72A2-FCC5-4278-95E3B3877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0F3A7-E1F8-2950-EECA-86DD61088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1F81-4BB1-F6C9-795D-B630977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52DF3-2275-E2B0-625D-63346CFB5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15D20-AC8A-9A3E-A7B4-405D1D768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0F326-6C99-FB90-50E2-AAEE2DCB5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2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97CC8F9-E2CC-D956-5D8E-25B7878D5A66}"/>
              </a:ext>
            </a:extLst>
          </p:cNvPr>
          <p:cNvSpPr/>
          <p:nvPr/>
        </p:nvSpPr>
        <p:spPr>
          <a:xfrm>
            <a:off x="1176793" y="3820602"/>
            <a:ext cx="3927944" cy="18486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HEALTHCARE INVESTMENT ANALYSIS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98689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NorthBridge Health Investment Fund: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Which Hospital Deserves the Investment?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Greenfield General Hospital  •  Eastpoint Community Hospital  •  Riverside Medical Centre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Prepared by Stella Obase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Dataverse Africa | Healthcare Data Analyst Track, Cohort 4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744CE7-A5D6-9093-F6A8-5CD6BB72EF1A}"/>
              </a:ext>
            </a:extLst>
          </p:cNvPr>
          <p:cNvSpPr txBox="1"/>
          <p:nvPr/>
        </p:nvSpPr>
        <p:spPr>
          <a:xfrm>
            <a:off x="3047338" y="324234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16CCE3A-3AAC-81DA-B2FA-9FFF7BB206C4}"/>
              </a:ext>
            </a:extLst>
          </p:cNvPr>
          <p:cNvSpPr/>
          <p:nvPr/>
        </p:nvSpPr>
        <p:spPr>
          <a:xfrm>
            <a:off x="1367624" y="4659464"/>
            <a:ext cx="34757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3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Clinically excellent, operationally disciplined, with a fixable financial gap and real room to scale.</a:t>
            </a:r>
            <a:endParaRPr lang="en-US" sz="93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8BA06-8BDF-B49E-176E-BC33CD052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745" y="4251960"/>
            <a:ext cx="628424" cy="103148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C0F46B5F-3346-B003-E84F-2BB7D41FA110}"/>
              </a:ext>
            </a:extLst>
          </p:cNvPr>
          <p:cNvSpPr/>
          <p:nvPr/>
        </p:nvSpPr>
        <p:spPr>
          <a:xfrm>
            <a:off x="811033" y="4003280"/>
            <a:ext cx="4548147" cy="70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Recommended: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Greenfield General Hospital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PROJECT OVERVIEW</a:t>
            </a:r>
            <a:endParaRPr lang="en-US" sz="2500" dirty="0">
              <a:solidFill>
                <a:srgbClr val="1F4D3A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19" y="1600199"/>
            <a:ext cx="10185621" cy="4331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US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Three Hospitals have been shortlisted for a major capital investment by </a:t>
            </a:r>
            <a:r>
              <a:rPr lang="en-US" dirty="0" err="1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NorthBridge</a:t>
            </a:r>
            <a:r>
              <a:rPr lang="en-US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Health Investment Fund. </a:t>
            </a:r>
          </a:p>
          <a:p>
            <a:pPr>
              <a:lnSpc>
                <a:spcPts val="1600"/>
              </a:lnSpc>
            </a:pPr>
            <a:endParaRPr lang="en-US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Only ONE will receive funding, This project analyzes the three Hospitals across different metrics and weights, then recommend the single strongest investment candidate supported directly by the data.</a:t>
            </a:r>
            <a:endParaRPr lang="en-US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600"/>
              </a:lnSpc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8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5CF412E-99E2-DBAF-D176-9BE096B8B63E}"/>
              </a:ext>
            </a:extLst>
          </p:cNvPr>
          <p:cNvSpPr/>
          <p:nvPr/>
        </p:nvSpPr>
        <p:spPr>
          <a:xfrm>
            <a:off x="640080" y="3063240"/>
            <a:ext cx="10451990" cy="1234440"/>
          </a:xfrm>
          <a:prstGeom prst="rect">
            <a:avLst/>
          </a:prstGeom>
          <a:solidFill>
            <a:srgbClr val="1F4D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Greenfield General Hospital  |  Eastpoint Community Hospital  | Riverside Medical Centre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664-EA19-DD42-6BBA-38C6CB09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A409058-5CCA-5582-89F3-C6E0E786DCC0}"/>
              </a:ext>
            </a:extLst>
          </p:cNvPr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three Hospitals at a glance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290357-C03E-9473-A8D6-2E11BC4163F3}"/>
              </a:ext>
            </a:extLst>
          </p:cNvPr>
          <p:cNvSpPr/>
          <p:nvPr/>
        </p:nvSpPr>
        <p:spPr>
          <a:xfrm>
            <a:off x="502920" y="1737360"/>
            <a:ext cx="4160520" cy="329184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366E38-AA9E-3350-3DFF-202FF37A831A}"/>
              </a:ext>
            </a:extLst>
          </p:cNvPr>
          <p:cNvSpPr/>
          <p:nvPr/>
        </p:nvSpPr>
        <p:spPr>
          <a:xfrm>
            <a:off x="502920" y="1737360"/>
            <a:ext cx="416052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KPI</a:t>
            </a:r>
            <a:endParaRPr lang="en-US" sz="10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2D100C-AC29-C22A-D4DB-9B07716A8164}"/>
              </a:ext>
            </a:extLst>
          </p:cNvPr>
          <p:cNvSpPr/>
          <p:nvPr/>
        </p:nvSpPr>
        <p:spPr>
          <a:xfrm>
            <a:off x="4663440" y="1737360"/>
            <a:ext cx="1874520" cy="329184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C6896B-CC7D-69D5-6558-C3EC76C0B06A}"/>
              </a:ext>
            </a:extLst>
          </p:cNvPr>
          <p:cNvSpPr/>
          <p:nvPr/>
        </p:nvSpPr>
        <p:spPr>
          <a:xfrm>
            <a:off x="4663440" y="1737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B6C16D5-2A98-14EE-72BE-E0E763593FF2}"/>
              </a:ext>
            </a:extLst>
          </p:cNvPr>
          <p:cNvSpPr/>
          <p:nvPr/>
        </p:nvSpPr>
        <p:spPr>
          <a:xfrm>
            <a:off x="6537960" y="1737360"/>
            <a:ext cx="1874520" cy="329184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71A97A-7F3D-7E3A-BC34-48EDCB27E920}"/>
              </a:ext>
            </a:extLst>
          </p:cNvPr>
          <p:cNvSpPr/>
          <p:nvPr/>
        </p:nvSpPr>
        <p:spPr>
          <a:xfrm>
            <a:off x="6537960" y="1737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1515831-0F49-02C0-D0F4-61358AAE5291}"/>
              </a:ext>
            </a:extLst>
          </p:cNvPr>
          <p:cNvSpPr/>
          <p:nvPr/>
        </p:nvSpPr>
        <p:spPr>
          <a:xfrm>
            <a:off x="8412480" y="1737360"/>
            <a:ext cx="1874520" cy="329184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D148CB-2322-2B1F-B256-7E3792035BE3}"/>
              </a:ext>
            </a:extLst>
          </p:cNvPr>
          <p:cNvSpPr/>
          <p:nvPr/>
        </p:nvSpPr>
        <p:spPr>
          <a:xfrm>
            <a:off x="8412480" y="1737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45F1A52-9769-8C19-F492-E9CD22911FD1}"/>
              </a:ext>
            </a:extLst>
          </p:cNvPr>
          <p:cNvSpPr/>
          <p:nvPr/>
        </p:nvSpPr>
        <p:spPr>
          <a:xfrm>
            <a:off x="10287000" y="1737360"/>
            <a:ext cx="1874520" cy="329184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1120380-308A-FCA0-B646-D08484ACD200}"/>
              </a:ext>
            </a:extLst>
          </p:cNvPr>
          <p:cNvSpPr/>
          <p:nvPr/>
        </p:nvSpPr>
        <p:spPr>
          <a:xfrm>
            <a:off x="10287000" y="17373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Best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5DEF51-3F68-7FFD-3BC4-806C3470D620}"/>
              </a:ext>
            </a:extLst>
          </p:cNvPr>
          <p:cNvSpPr/>
          <p:nvPr/>
        </p:nvSpPr>
        <p:spPr>
          <a:xfrm>
            <a:off x="502920" y="2066544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D680AA3-4578-9BFC-A5D1-EF6F3263B081}"/>
              </a:ext>
            </a:extLst>
          </p:cNvPr>
          <p:cNvSpPr/>
          <p:nvPr/>
        </p:nvSpPr>
        <p:spPr>
          <a:xfrm>
            <a:off x="4663440" y="206654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1DEF080-6704-72C0-D7E9-F41F9B3E8F5B}"/>
              </a:ext>
            </a:extLst>
          </p:cNvPr>
          <p:cNvSpPr/>
          <p:nvPr/>
        </p:nvSpPr>
        <p:spPr>
          <a:xfrm>
            <a:off x="6537960" y="206654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376DBBB-C9A5-CC7C-6016-E23D933C412C}"/>
              </a:ext>
            </a:extLst>
          </p:cNvPr>
          <p:cNvSpPr/>
          <p:nvPr/>
        </p:nvSpPr>
        <p:spPr>
          <a:xfrm>
            <a:off x="8412480" y="206654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006448-C2BA-8B2B-3CB1-540546F852BF}"/>
              </a:ext>
            </a:extLst>
          </p:cNvPr>
          <p:cNvSpPr/>
          <p:nvPr/>
        </p:nvSpPr>
        <p:spPr>
          <a:xfrm>
            <a:off x="10287000" y="206654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C6817C0-DB7C-5838-6539-1EDECD8A26F6}"/>
              </a:ext>
            </a:extLst>
          </p:cNvPr>
          <p:cNvSpPr/>
          <p:nvPr/>
        </p:nvSpPr>
        <p:spPr>
          <a:xfrm>
            <a:off x="594360" y="2066544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Encounters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3356315-A9B7-01B7-7CB1-C49A61623325}"/>
              </a:ext>
            </a:extLst>
          </p:cNvPr>
          <p:cNvSpPr/>
          <p:nvPr/>
        </p:nvSpPr>
        <p:spPr>
          <a:xfrm>
            <a:off x="4663440" y="206654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3,600</a:t>
            </a:r>
            <a:endParaRPr lang="en-US" sz="9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04E9D6-6F98-607B-165C-72739625204F}"/>
              </a:ext>
            </a:extLst>
          </p:cNvPr>
          <p:cNvSpPr/>
          <p:nvPr/>
        </p:nvSpPr>
        <p:spPr>
          <a:xfrm>
            <a:off x="6537960" y="206654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3,500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48631A-6C6F-A754-E36E-46FC86458FB1}"/>
              </a:ext>
            </a:extLst>
          </p:cNvPr>
          <p:cNvSpPr/>
          <p:nvPr/>
        </p:nvSpPr>
        <p:spPr>
          <a:xfrm>
            <a:off x="8412480" y="206654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3,800</a:t>
            </a: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4CED618-B565-CC40-6375-7D289C642237}"/>
              </a:ext>
            </a:extLst>
          </p:cNvPr>
          <p:cNvSpPr/>
          <p:nvPr/>
        </p:nvSpPr>
        <p:spPr>
          <a:xfrm>
            <a:off x="10287000" y="206654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7C878FD-1AC8-2F61-B554-045FD74D2CF9}"/>
              </a:ext>
            </a:extLst>
          </p:cNvPr>
          <p:cNvSpPr/>
          <p:nvPr/>
        </p:nvSpPr>
        <p:spPr>
          <a:xfrm>
            <a:off x="502920" y="2372868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A4E254-8999-CF59-D488-6172FCCCA2F6}"/>
              </a:ext>
            </a:extLst>
          </p:cNvPr>
          <p:cNvSpPr/>
          <p:nvPr/>
        </p:nvSpPr>
        <p:spPr>
          <a:xfrm>
            <a:off x="4663440" y="237286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$2.32m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854AEEC-2222-C8B3-35B0-7EBDD226ACF4}"/>
              </a:ext>
            </a:extLst>
          </p:cNvPr>
          <p:cNvSpPr/>
          <p:nvPr/>
        </p:nvSpPr>
        <p:spPr>
          <a:xfrm>
            <a:off x="6537960" y="237286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6384306-FD84-C12C-C0C6-F5FADC9A9FFF}"/>
              </a:ext>
            </a:extLst>
          </p:cNvPr>
          <p:cNvSpPr/>
          <p:nvPr/>
        </p:nvSpPr>
        <p:spPr>
          <a:xfrm>
            <a:off x="8412480" y="237286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32E1F50-2EF0-7E0A-B62B-AD44F1E2D2D6}"/>
              </a:ext>
            </a:extLst>
          </p:cNvPr>
          <p:cNvSpPr/>
          <p:nvPr/>
        </p:nvSpPr>
        <p:spPr>
          <a:xfrm>
            <a:off x="10287000" y="237286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17BFAEC-8A16-90AF-6F41-3DBEE5A18D96}"/>
              </a:ext>
            </a:extLst>
          </p:cNvPr>
          <p:cNvSpPr/>
          <p:nvPr/>
        </p:nvSpPr>
        <p:spPr>
          <a:xfrm>
            <a:off x="594360" y="2372868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Revenue</a:t>
            </a: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B9A087D-FB64-3798-8FEF-98F50EDCAB1E}"/>
              </a:ext>
            </a:extLst>
          </p:cNvPr>
          <p:cNvSpPr/>
          <p:nvPr/>
        </p:nvSpPr>
        <p:spPr>
          <a:xfrm>
            <a:off x="4663440" y="237286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B862741-36AC-1BC1-1C24-2D9D52046D70}"/>
              </a:ext>
            </a:extLst>
          </p:cNvPr>
          <p:cNvSpPr/>
          <p:nvPr/>
        </p:nvSpPr>
        <p:spPr>
          <a:xfrm>
            <a:off x="6537960" y="237286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$4.07m</a:t>
            </a: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1BA2B13-EA4C-B2C6-391E-FE8CEAA661A0}"/>
              </a:ext>
            </a:extLst>
          </p:cNvPr>
          <p:cNvSpPr/>
          <p:nvPr/>
        </p:nvSpPr>
        <p:spPr>
          <a:xfrm>
            <a:off x="8412480" y="237286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$6.63m</a:t>
            </a:r>
            <a:endParaRPr lang="en-US" sz="9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C32316F-F0FD-43A1-4045-76B64F783700}"/>
              </a:ext>
            </a:extLst>
          </p:cNvPr>
          <p:cNvSpPr/>
          <p:nvPr/>
        </p:nvSpPr>
        <p:spPr>
          <a:xfrm>
            <a:off x="10287000" y="237286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E6B0D58-59FD-3208-93A4-ED02FD55BADF}"/>
              </a:ext>
            </a:extLst>
          </p:cNvPr>
          <p:cNvSpPr/>
          <p:nvPr/>
        </p:nvSpPr>
        <p:spPr>
          <a:xfrm>
            <a:off x="502920" y="2679192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AAB29BD-0FB4-1F6C-F695-53E5EF89493A}"/>
              </a:ext>
            </a:extLst>
          </p:cNvPr>
          <p:cNvSpPr/>
          <p:nvPr/>
        </p:nvSpPr>
        <p:spPr>
          <a:xfrm>
            <a:off x="4663440" y="267919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D0A871E-6B2D-2AC8-0275-1743DC3979CE}"/>
              </a:ext>
            </a:extLst>
          </p:cNvPr>
          <p:cNvSpPr/>
          <p:nvPr/>
        </p:nvSpPr>
        <p:spPr>
          <a:xfrm>
            <a:off x="6537960" y="267919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426CB1E-039C-BD7B-0E4B-686E89BB3F5B}"/>
              </a:ext>
            </a:extLst>
          </p:cNvPr>
          <p:cNvSpPr/>
          <p:nvPr/>
        </p:nvSpPr>
        <p:spPr>
          <a:xfrm>
            <a:off x="8412480" y="267919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B623719-0CDE-7C17-2778-44EB7D2E436C}"/>
              </a:ext>
            </a:extLst>
          </p:cNvPr>
          <p:cNvSpPr/>
          <p:nvPr/>
        </p:nvSpPr>
        <p:spPr>
          <a:xfrm>
            <a:off x="10287000" y="267919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C5C175C-3981-E5C5-8532-1C90FD8F36F1}"/>
              </a:ext>
            </a:extLst>
          </p:cNvPr>
          <p:cNvSpPr/>
          <p:nvPr/>
        </p:nvSpPr>
        <p:spPr>
          <a:xfrm>
            <a:off x="594360" y="2679192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</a:t>
            </a:r>
            <a:endParaRPr lang="en-US" sz="9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646FD67-4B0D-8556-F052-AE48DEB628F6}"/>
              </a:ext>
            </a:extLst>
          </p:cNvPr>
          <p:cNvSpPr/>
          <p:nvPr/>
        </p:nvSpPr>
        <p:spPr>
          <a:xfrm>
            <a:off x="4663440" y="267919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29.1%</a:t>
            </a:r>
            <a:endParaRPr lang="en-US" sz="9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3A53BFA-4F7D-4906-567F-009CA2A44E78}"/>
              </a:ext>
            </a:extLst>
          </p:cNvPr>
          <p:cNvSpPr/>
          <p:nvPr/>
        </p:nvSpPr>
        <p:spPr>
          <a:xfrm>
            <a:off x="6537960" y="267919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45.3%</a:t>
            </a:r>
            <a:endParaRPr lang="en-US" sz="9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28C011A-C0FC-225C-6E17-FE3AC22925FB}"/>
              </a:ext>
            </a:extLst>
          </p:cNvPr>
          <p:cNvSpPr/>
          <p:nvPr/>
        </p:nvSpPr>
        <p:spPr>
          <a:xfrm>
            <a:off x="8412480" y="267919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56.9%</a:t>
            </a:r>
            <a:endParaRPr lang="en-US" sz="9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FA801FB-71B1-08D9-A256-7D8BE695D5B1}"/>
              </a:ext>
            </a:extLst>
          </p:cNvPr>
          <p:cNvSpPr/>
          <p:nvPr/>
        </p:nvSpPr>
        <p:spPr>
          <a:xfrm>
            <a:off x="10287000" y="267919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3C14319-0B80-7345-BDB5-7CBD954D994F}"/>
              </a:ext>
            </a:extLst>
          </p:cNvPr>
          <p:cNvSpPr/>
          <p:nvPr/>
        </p:nvSpPr>
        <p:spPr>
          <a:xfrm>
            <a:off x="502920" y="2985516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1F821B5-ED34-72E6-A424-F1F4B2433B88}"/>
              </a:ext>
            </a:extLst>
          </p:cNvPr>
          <p:cNvSpPr/>
          <p:nvPr/>
        </p:nvSpPr>
        <p:spPr>
          <a:xfrm>
            <a:off x="4663440" y="2985516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1804038-7793-4F19-C74A-252A13A4CA44}"/>
              </a:ext>
            </a:extLst>
          </p:cNvPr>
          <p:cNvSpPr/>
          <p:nvPr/>
        </p:nvSpPr>
        <p:spPr>
          <a:xfrm>
            <a:off x="6537960" y="2985516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9749646-7442-985B-2AED-D451202E45E3}"/>
              </a:ext>
            </a:extLst>
          </p:cNvPr>
          <p:cNvSpPr/>
          <p:nvPr/>
        </p:nvSpPr>
        <p:spPr>
          <a:xfrm>
            <a:off x="8412480" y="2985516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B82179D-4059-0EC0-BC3C-A3733EEAF18E}"/>
              </a:ext>
            </a:extLst>
          </p:cNvPr>
          <p:cNvSpPr/>
          <p:nvPr/>
        </p:nvSpPr>
        <p:spPr>
          <a:xfrm>
            <a:off x="10287000" y="2985516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9580F98-8F38-D738-5F08-8C0BFBC8EC4C}"/>
              </a:ext>
            </a:extLst>
          </p:cNvPr>
          <p:cNvSpPr/>
          <p:nvPr/>
        </p:nvSpPr>
        <p:spPr>
          <a:xfrm>
            <a:off x="594360" y="2985516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</a:t>
            </a:r>
            <a:endParaRPr lang="en-US" sz="9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01F5327-E32C-B842-CDE0-7D0D6A176DA4}"/>
              </a:ext>
            </a:extLst>
          </p:cNvPr>
          <p:cNvSpPr/>
          <p:nvPr/>
        </p:nvSpPr>
        <p:spPr>
          <a:xfrm>
            <a:off x="4663440" y="298551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50.6%</a:t>
            </a:r>
            <a:endParaRPr lang="en-US" sz="9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990F4A-4AE7-66E6-AC14-153676789FB7}"/>
              </a:ext>
            </a:extLst>
          </p:cNvPr>
          <p:cNvSpPr/>
          <p:nvPr/>
        </p:nvSpPr>
        <p:spPr>
          <a:xfrm>
            <a:off x="6537960" y="298551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28.8%</a:t>
            </a:r>
            <a:endParaRPr lang="en-US" sz="9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70F1AE7C-6FED-8B95-3E8E-12465D8D91BC}"/>
              </a:ext>
            </a:extLst>
          </p:cNvPr>
          <p:cNvSpPr/>
          <p:nvPr/>
        </p:nvSpPr>
        <p:spPr>
          <a:xfrm>
            <a:off x="8412480" y="298551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14.6%</a:t>
            </a:r>
            <a:endParaRPr lang="en-US" sz="9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ABC9744-5492-91F9-9E5B-52C23C8E4F97}"/>
              </a:ext>
            </a:extLst>
          </p:cNvPr>
          <p:cNvSpPr/>
          <p:nvPr/>
        </p:nvSpPr>
        <p:spPr>
          <a:xfrm>
            <a:off x="10287000" y="298551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6EB9678-30A8-510D-4962-3F1E61F258DC}"/>
              </a:ext>
            </a:extLst>
          </p:cNvPr>
          <p:cNvSpPr/>
          <p:nvPr/>
        </p:nvSpPr>
        <p:spPr>
          <a:xfrm>
            <a:off x="502920" y="3291840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F77EC21-747C-7AC7-C3FF-4BEA685F066E}"/>
              </a:ext>
            </a:extLst>
          </p:cNvPr>
          <p:cNvSpPr/>
          <p:nvPr/>
        </p:nvSpPr>
        <p:spPr>
          <a:xfrm>
            <a:off x="4663440" y="3291840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5971350-FBE2-E078-0D35-DD26E6F922BE}"/>
              </a:ext>
            </a:extLst>
          </p:cNvPr>
          <p:cNvSpPr/>
          <p:nvPr/>
        </p:nvSpPr>
        <p:spPr>
          <a:xfrm>
            <a:off x="6537960" y="3291840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47A454C-9D9F-AACB-1130-A88D4794872F}"/>
              </a:ext>
            </a:extLst>
          </p:cNvPr>
          <p:cNvSpPr/>
          <p:nvPr/>
        </p:nvSpPr>
        <p:spPr>
          <a:xfrm>
            <a:off x="8412480" y="3291840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93D4D03-E4DD-4F88-49A8-94EDF0409F16}"/>
              </a:ext>
            </a:extLst>
          </p:cNvPr>
          <p:cNvSpPr/>
          <p:nvPr/>
        </p:nvSpPr>
        <p:spPr>
          <a:xfrm>
            <a:off x="10287000" y="3291840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C43A57A-3F62-6DE7-94E6-2C847A30460E}"/>
              </a:ext>
            </a:extLst>
          </p:cNvPr>
          <p:cNvSpPr/>
          <p:nvPr/>
        </p:nvSpPr>
        <p:spPr>
          <a:xfrm>
            <a:off x="594360" y="3291840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Mortality Rate</a:t>
            </a:r>
            <a:endParaRPr lang="en-US" sz="95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17667B9-4B52-0BD7-7F51-9F1A406F0FB5}"/>
              </a:ext>
            </a:extLst>
          </p:cNvPr>
          <p:cNvSpPr/>
          <p:nvPr/>
        </p:nvSpPr>
        <p:spPr>
          <a:xfrm>
            <a:off x="4663440" y="329184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2.64%</a:t>
            </a:r>
            <a:endParaRPr lang="en-US" sz="95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2B249C8-FF67-04BD-0E93-9B9F60B1C33C}"/>
              </a:ext>
            </a:extLst>
          </p:cNvPr>
          <p:cNvSpPr/>
          <p:nvPr/>
        </p:nvSpPr>
        <p:spPr>
          <a:xfrm>
            <a:off x="6537960" y="329184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4.37%</a:t>
            </a:r>
            <a:endParaRPr lang="en-US" sz="95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20FA9F5-6DB6-F99B-D2A2-21953A1B60D7}"/>
              </a:ext>
            </a:extLst>
          </p:cNvPr>
          <p:cNvSpPr/>
          <p:nvPr/>
        </p:nvSpPr>
        <p:spPr>
          <a:xfrm>
            <a:off x="8412480" y="329184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6.16%</a:t>
            </a:r>
            <a:endParaRPr lang="en-US" sz="95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9B850C3-2561-D317-2305-4D512D723230}"/>
              </a:ext>
            </a:extLst>
          </p:cNvPr>
          <p:cNvSpPr/>
          <p:nvPr/>
        </p:nvSpPr>
        <p:spPr>
          <a:xfrm>
            <a:off x="10287000" y="329184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D5E9241-4BF7-CD13-7333-41ED0C3235DD}"/>
              </a:ext>
            </a:extLst>
          </p:cNvPr>
          <p:cNvSpPr/>
          <p:nvPr/>
        </p:nvSpPr>
        <p:spPr>
          <a:xfrm>
            <a:off x="502920" y="3598164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6A514B6-A87B-79AD-EA33-7F6234F1EFF9}"/>
              </a:ext>
            </a:extLst>
          </p:cNvPr>
          <p:cNvSpPr/>
          <p:nvPr/>
        </p:nvSpPr>
        <p:spPr>
          <a:xfrm>
            <a:off x="4663440" y="3598164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73E532D-2EDE-7927-B0C6-C933A9E80753}"/>
              </a:ext>
            </a:extLst>
          </p:cNvPr>
          <p:cNvSpPr/>
          <p:nvPr/>
        </p:nvSpPr>
        <p:spPr>
          <a:xfrm>
            <a:off x="6537960" y="3598164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CA77848-F351-5611-5E41-1C5EA9C70A22}"/>
              </a:ext>
            </a:extLst>
          </p:cNvPr>
          <p:cNvSpPr/>
          <p:nvPr/>
        </p:nvSpPr>
        <p:spPr>
          <a:xfrm>
            <a:off x="8412480" y="3598164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3FB70E23-50B0-0E74-FC9C-6AF81BD056FF}"/>
              </a:ext>
            </a:extLst>
          </p:cNvPr>
          <p:cNvSpPr/>
          <p:nvPr/>
        </p:nvSpPr>
        <p:spPr>
          <a:xfrm>
            <a:off x="10287000" y="3598164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46A04042-7D12-600B-F0F3-0A62DD8BAA35}"/>
              </a:ext>
            </a:extLst>
          </p:cNvPr>
          <p:cNvSpPr/>
          <p:nvPr/>
        </p:nvSpPr>
        <p:spPr>
          <a:xfrm>
            <a:off x="594360" y="3598164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 Rate</a:t>
            </a:r>
            <a:endParaRPr lang="en-US" sz="95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E5A109B-022B-E077-DB5F-AF100877EF19}"/>
              </a:ext>
            </a:extLst>
          </p:cNvPr>
          <p:cNvSpPr/>
          <p:nvPr/>
        </p:nvSpPr>
        <p:spPr>
          <a:xfrm>
            <a:off x="4663440" y="359816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3.58%</a:t>
            </a:r>
            <a:endParaRPr lang="en-US" sz="9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40A60DA1-D941-E332-D847-96878CA807E5}"/>
              </a:ext>
            </a:extLst>
          </p:cNvPr>
          <p:cNvSpPr/>
          <p:nvPr/>
        </p:nvSpPr>
        <p:spPr>
          <a:xfrm>
            <a:off x="6537960" y="359816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4.29%</a:t>
            </a:r>
            <a:endParaRPr lang="en-US" sz="95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3A5C16DA-31CB-3BEF-9618-53E74234A80F}"/>
              </a:ext>
            </a:extLst>
          </p:cNvPr>
          <p:cNvSpPr/>
          <p:nvPr/>
        </p:nvSpPr>
        <p:spPr>
          <a:xfrm>
            <a:off x="8412480" y="359816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5.58%</a:t>
            </a:r>
            <a:endParaRPr lang="en-US" sz="95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EE8BE153-64DC-1354-65DB-805CB26D4B3A}"/>
              </a:ext>
            </a:extLst>
          </p:cNvPr>
          <p:cNvSpPr/>
          <p:nvPr/>
        </p:nvSpPr>
        <p:spPr>
          <a:xfrm>
            <a:off x="10287000" y="359816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FB4CE7FF-903B-F3FC-D6FF-2615BFD0914A}"/>
              </a:ext>
            </a:extLst>
          </p:cNvPr>
          <p:cNvSpPr/>
          <p:nvPr/>
        </p:nvSpPr>
        <p:spPr>
          <a:xfrm>
            <a:off x="502920" y="3904488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A7E7B6FE-A3F5-5B3E-3664-E206B1CF4B46}"/>
              </a:ext>
            </a:extLst>
          </p:cNvPr>
          <p:cNvSpPr/>
          <p:nvPr/>
        </p:nvSpPr>
        <p:spPr>
          <a:xfrm>
            <a:off x="4663440" y="3904488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E673270D-6248-11C8-441E-82DEB5A92B9A}"/>
              </a:ext>
            </a:extLst>
          </p:cNvPr>
          <p:cNvSpPr/>
          <p:nvPr/>
        </p:nvSpPr>
        <p:spPr>
          <a:xfrm>
            <a:off x="6537960" y="3904488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624E2FF3-738E-C360-3B97-2781C482B98A}"/>
              </a:ext>
            </a:extLst>
          </p:cNvPr>
          <p:cNvSpPr/>
          <p:nvPr/>
        </p:nvSpPr>
        <p:spPr>
          <a:xfrm>
            <a:off x="8412480" y="3904488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CFF8A516-793A-275D-E0FB-855B1950D8F0}"/>
              </a:ext>
            </a:extLst>
          </p:cNvPr>
          <p:cNvSpPr/>
          <p:nvPr/>
        </p:nvSpPr>
        <p:spPr>
          <a:xfrm>
            <a:off x="10287000" y="3904488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160C80AB-BF92-13AF-B2C0-057C8A3D8701}"/>
              </a:ext>
            </a:extLst>
          </p:cNvPr>
          <p:cNvSpPr/>
          <p:nvPr/>
        </p:nvSpPr>
        <p:spPr>
          <a:xfrm>
            <a:off x="594360" y="3904488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Readmission Rate</a:t>
            </a:r>
            <a:endParaRPr lang="en-US" sz="95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973A0B80-9C37-C559-8756-B07DE7CCE76E}"/>
              </a:ext>
            </a:extLst>
          </p:cNvPr>
          <p:cNvSpPr/>
          <p:nvPr/>
        </p:nvSpPr>
        <p:spPr>
          <a:xfrm>
            <a:off x="4663440" y="390448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9.39%</a:t>
            </a:r>
            <a:endParaRPr lang="en-US" sz="95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FBD5B0C6-0AF4-1FC1-41E0-9323937DB778}"/>
              </a:ext>
            </a:extLst>
          </p:cNvPr>
          <p:cNvSpPr/>
          <p:nvPr/>
        </p:nvSpPr>
        <p:spPr>
          <a:xfrm>
            <a:off x="6537960" y="390448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14.11%</a:t>
            </a:r>
            <a:endParaRPr lang="en-US" sz="95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3C6CEE87-85F4-2DAA-E3AA-F31795BB3CB3}"/>
              </a:ext>
            </a:extLst>
          </p:cNvPr>
          <p:cNvSpPr/>
          <p:nvPr/>
        </p:nvSpPr>
        <p:spPr>
          <a:xfrm>
            <a:off x="8412480" y="390448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19.66%</a:t>
            </a:r>
            <a:endParaRPr lang="en-US" sz="95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6886ECC5-08B0-1CFC-291A-1EE371741E6F}"/>
              </a:ext>
            </a:extLst>
          </p:cNvPr>
          <p:cNvSpPr/>
          <p:nvPr/>
        </p:nvSpPr>
        <p:spPr>
          <a:xfrm>
            <a:off x="10287000" y="390448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87A39962-F9D2-A16E-440D-62F6BEA38DD3}"/>
              </a:ext>
            </a:extLst>
          </p:cNvPr>
          <p:cNvSpPr/>
          <p:nvPr/>
        </p:nvSpPr>
        <p:spPr>
          <a:xfrm>
            <a:off x="502920" y="4210812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F7494CAB-42BA-73FF-63E2-A147B0D5FF30}"/>
              </a:ext>
            </a:extLst>
          </p:cNvPr>
          <p:cNvSpPr/>
          <p:nvPr/>
        </p:nvSpPr>
        <p:spPr>
          <a:xfrm>
            <a:off x="4663440" y="4210812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620D76FC-2B0C-0A78-4BE6-5910BB841C38}"/>
              </a:ext>
            </a:extLst>
          </p:cNvPr>
          <p:cNvSpPr/>
          <p:nvPr/>
        </p:nvSpPr>
        <p:spPr>
          <a:xfrm>
            <a:off x="6537960" y="4210812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26613141-7C4E-B29B-7DEB-318E3A51807B}"/>
              </a:ext>
            </a:extLst>
          </p:cNvPr>
          <p:cNvSpPr/>
          <p:nvPr/>
        </p:nvSpPr>
        <p:spPr>
          <a:xfrm>
            <a:off x="8412480" y="4210812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52213C0E-12C6-D5B5-6181-0845472D5337}"/>
              </a:ext>
            </a:extLst>
          </p:cNvPr>
          <p:cNvSpPr/>
          <p:nvPr/>
        </p:nvSpPr>
        <p:spPr>
          <a:xfrm>
            <a:off x="10287000" y="4210812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09DAD691-1AF6-F3C1-264B-CE9629B63AE1}"/>
              </a:ext>
            </a:extLst>
          </p:cNvPr>
          <p:cNvSpPr/>
          <p:nvPr/>
        </p:nvSpPr>
        <p:spPr>
          <a:xfrm>
            <a:off x="594360" y="4210812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 Rate</a:t>
            </a:r>
            <a:endParaRPr lang="en-US" sz="95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FB55A59C-A978-7837-06B5-42911C059A29}"/>
              </a:ext>
            </a:extLst>
          </p:cNvPr>
          <p:cNvSpPr/>
          <p:nvPr/>
        </p:nvSpPr>
        <p:spPr>
          <a:xfrm>
            <a:off x="4663440" y="421081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10.89%</a:t>
            </a:r>
            <a:endParaRPr lang="en-US" sz="9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684F57A2-5A09-74B3-8D78-76B84B0D47B6}"/>
              </a:ext>
            </a:extLst>
          </p:cNvPr>
          <p:cNvSpPr/>
          <p:nvPr/>
        </p:nvSpPr>
        <p:spPr>
          <a:xfrm>
            <a:off x="6537960" y="421081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12.60%</a:t>
            </a:r>
            <a:endParaRPr lang="en-US" sz="95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70402628-A878-1D3C-EB90-EF174E0B2E64}"/>
              </a:ext>
            </a:extLst>
          </p:cNvPr>
          <p:cNvSpPr/>
          <p:nvPr/>
        </p:nvSpPr>
        <p:spPr>
          <a:xfrm>
            <a:off x="8412480" y="421081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17.82%</a:t>
            </a:r>
            <a:endParaRPr lang="en-US" sz="95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D7C6CA7D-AF95-37BF-F314-C8534E021FFA}"/>
              </a:ext>
            </a:extLst>
          </p:cNvPr>
          <p:cNvSpPr/>
          <p:nvPr/>
        </p:nvSpPr>
        <p:spPr>
          <a:xfrm>
            <a:off x="10287000" y="421081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9363B0E0-B266-3DD3-67AA-81B7098C1ECD}"/>
              </a:ext>
            </a:extLst>
          </p:cNvPr>
          <p:cNvSpPr/>
          <p:nvPr/>
        </p:nvSpPr>
        <p:spPr>
          <a:xfrm>
            <a:off x="502920" y="4517136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DE47A67F-74C7-3243-4697-CE2BD4F7B249}"/>
              </a:ext>
            </a:extLst>
          </p:cNvPr>
          <p:cNvSpPr/>
          <p:nvPr/>
        </p:nvSpPr>
        <p:spPr>
          <a:xfrm>
            <a:off x="4663440" y="4517136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953985AF-A253-9414-22FE-F94D775B5731}"/>
              </a:ext>
            </a:extLst>
          </p:cNvPr>
          <p:cNvSpPr/>
          <p:nvPr/>
        </p:nvSpPr>
        <p:spPr>
          <a:xfrm>
            <a:off x="6537960" y="4517136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E38B5B80-27E1-65D1-4B8E-4F37F6572CE3}"/>
              </a:ext>
            </a:extLst>
          </p:cNvPr>
          <p:cNvSpPr/>
          <p:nvPr/>
        </p:nvSpPr>
        <p:spPr>
          <a:xfrm>
            <a:off x="8412480" y="4517136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AAD33214-F54F-6750-51DD-FE2CC512B393}"/>
              </a:ext>
            </a:extLst>
          </p:cNvPr>
          <p:cNvSpPr/>
          <p:nvPr/>
        </p:nvSpPr>
        <p:spPr>
          <a:xfrm>
            <a:off x="10287000" y="4517136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9597467D-9F03-4EC6-E4DC-6EFE29BB74CB}"/>
              </a:ext>
            </a:extLst>
          </p:cNvPr>
          <p:cNvSpPr/>
          <p:nvPr/>
        </p:nvSpPr>
        <p:spPr>
          <a:xfrm>
            <a:off x="594360" y="4517136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Patient Satisfaction</a:t>
            </a:r>
            <a:endParaRPr lang="en-US" sz="950" dirty="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4CB5C798-69F3-41A7-149A-2B20EFEC14A8}"/>
              </a:ext>
            </a:extLst>
          </p:cNvPr>
          <p:cNvSpPr/>
          <p:nvPr/>
        </p:nvSpPr>
        <p:spPr>
          <a:xfrm>
            <a:off x="4663440" y="451713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7.68</a:t>
            </a:r>
            <a:endParaRPr lang="en-US" sz="95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C889ECD6-E88B-831E-0249-B1C806691382}"/>
              </a:ext>
            </a:extLst>
          </p:cNvPr>
          <p:cNvSpPr/>
          <p:nvPr/>
        </p:nvSpPr>
        <p:spPr>
          <a:xfrm>
            <a:off x="6537960" y="451713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6.92</a:t>
            </a:r>
            <a:endParaRPr lang="en-US" sz="95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C03ECBFF-603B-13DB-B287-D1E48DFA342E}"/>
              </a:ext>
            </a:extLst>
          </p:cNvPr>
          <p:cNvSpPr/>
          <p:nvPr/>
        </p:nvSpPr>
        <p:spPr>
          <a:xfrm>
            <a:off x="8412480" y="451713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5.53</a:t>
            </a:r>
            <a:endParaRPr lang="en-US" sz="95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3CE0ED2C-546D-89FE-67DE-55D6240F77A7}"/>
              </a:ext>
            </a:extLst>
          </p:cNvPr>
          <p:cNvSpPr/>
          <p:nvPr/>
        </p:nvSpPr>
        <p:spPr>
          <a:xfrm>
            <a:off x="10287000" y="4517136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1B748F0A-1760-FF6A-2E59-0357BFEEA98E}"/>
              </a:ext>
            </a:extLst>
          </p:cNvPr>
          <p:cNvSpPr/>
          <p:nvPr/>
        </p:nvSpPr>
        <p:spPr>
          <a:xfrm>
            <a:off x="502920" y="4823460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970C8632-60E7-FAB5-CE89-31EF2968D352}"/>
              </a:ext>
            </a:extLst>
          </p:cNvPr>
          <p:cNvSpPr/>
          <p:nvPr/>
        </p:nvSpPr>
        <p:spPr>
          <a:xfrm>
            <a:off x="4663440" y="4823460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42342AA4-E88F-2A98-6556-42B49DA1DA10}"/>
              </a:ext>
            </a:extLst>
          </p:cNvPr>
          <p:cNvSpPr/>
          <p:nvPr/>
        </p:nvSpPr>
        <p:spPr>
          <a:xfrm>
            <a:off x="6537960" y="4823460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F5C8D449-D1D6-C6E1-3A8E-9F0CA6AF991E}"/>
              </a:ext>
            </a:extLst>
          </p:cNvPr>
          <p:cNvSpPr/>
          <p:nvPr/>
        </p:nvSpPr>
        <p:spPr>
          <a:xfrm>
            <a:off x="8412480" y="4823460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897A36C5-5B5A-B31B-57DA-90F1461EE1F1}"/>
              </a:ext>
            </a:extLst>
          </p:cNvPr>
          <p:cNvSpPr/>
          <p:nvPr/>
        </p:nvSpPr>
        <p:spPr>
          <a:xfrm>
            <a:off x="10287000" y="4823460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076BBCBC-FA24-1510-F930-F3B658336B05}"/>
              </a:ext>
            </a:extLst>
          </p:cNvPr>
          <p:cNvSpPr/>
          <p:nvPr/>
        </p:nvSpPr>
        <p:spPr>
          <a:xfrm>
            <a:off x="594360" y="4823460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LOS (days)</a:t>
            </a:r>
            <a:endParaRPr lang="en-US" sz="950" dirty="0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94DB47C2-5A34-9F95-AB9D-C293937311B5}"/>
              </a:ext>
            </a:extLst>
          </p:cNvPr>
          <p:cNvSpPr/>
          <p:nvPr/>
        </p:nvSpPr>
        <p:spPr>
          <a:xfrm>
            <a:off x="4663440" y="482346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3.18</a:t>
            </a:r>
            <a:endParaRPr lang="en-US" sz="950" dirty="0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1366A1FB-8875-3BCF-6F6C-947E7665C2F2}"/>
              </a:ext>
            </a:extLst>
          </p:cNvPr>
          <p:cNvSpPr/>
          <p:nvPr/>
        </p:nvSpPr>
        <p:spPr>
          <a:xfrm>
            <a:off x="6537960" y="482346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3.79</a:t>
            </a:r>
            <a:endParaRPr lang="en-US" sz="950" dirty="0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F8C79D59-5E4F-8F11-BB9B-D38196FB4CC1}"/>
              </a:ext>
            </a:extLst>
          </p:cNvPr>
          <p:cNvSpPr/>
          <p:nvPr/>
        </p:nvSpPr>
        <p:spPr>
          <a:xfrm>
            <a:off x="8412480" y="482346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5.03</a:t>
            </a:r>
            <a:endParaRPr lang="en-US" sz="950" dirty="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5C99859F-2CEC-7E11-11EB-D0238AD2EFF9}"/>
              </a:ext>
            </a:extLst>
          </p:cNvPr>
          <p:cNvSpPr/>
          <p:nvPr/>
        </p:nvSpPr>
        <p:spPr>
          <a:xfrm>
            <a:off x="10287000" y="4823460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338C9C53-26FA-B2DD-D5D9-233B91BBE2D1}"/>
              </a:ext>
            </a:extLst>
          </p:cNvPr>
          <p:cNvSpPr/>
          <p:nvPr/>
        </p:nvSpPr>
        <p:spPr>
          <a:xfrm>
            <a:off x="502920" y="5129784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C7534610-8025-7ECA-8DBC-D6C9D142B26E}"/>
              </a:ext>
            </a:extLst>
          </p:cNvPr>
          <p:cNvSpPr/>
          <p:nvPr/>
        </p:nvSpPr>
        <p:spPr>
          <a:xfrm>
            <a:off x="4663440" y="512978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C9AAAABC-544B-8552-341A-65C5E205E321}"/>
              </a:ext>
            </a:extLst>
          </p:cNvPr>
          <p:cNvSpPr/>
          <p:nvPr/>
        </p:nvSpPr>
        <p:spPr>
          <a:xfrm>
            <a:off x="6537960" y="512978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7D3F6A6F-8C31-AE70-AE7A-372F09864666}"/>
              </a:ext>
            </a:extLst>
          </p:cNvPr>
          <p:cNvSpPr/>
          <p:nvPr/>
        </p:nvSpPr>
        <p:spPr>
          <a:xfrm>
            <a:off x="8412480" y="512978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BDAE23A5-6B92-EF9D-6E7A-62331111EB5B}"/>
              </a:ext>
            </a:extLst>
          </p:cNvPr>
          <p:cNvSpPr/>
          <p:nvPr/>
        </p:nvSpPr>
        <p:spPr>
          <a:xfrm>
            <a:off x="10287000" y="5129784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3DCBD72D-A169-381E-04E2-6F43B963A8D8}"/>
              </a:ext>
            </a:extLst>
          </p:cNvPr>
          <p:cNvSpPr/>
          <p:nvPr/>
        </p:nvSpPr>
        <p:spPr>
          <a:xfrm>
            <a:off x="594360" y="5129784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ED Wait (min)</a:t>
            </a:r>
            <a:endParaRPr lang="en-US" sz="950" dirty="0"/>
          </a:p>
        </p:txBody>
      </p:sp>
      <p:sp>
        <p:nvSpPr>
          <p:cNvPr id="121" name="Text 119">
            <a:extLst>
              <a:ext uri="{FF2B5EF4-FFF2-40B4-BE49-F238E27FC236}">
                <a16:creationId xmlns:a16="http://schemas.microsoft.com/office/drawing/2014/main" id="{2913C9AA-A2C2-533F-0B22-94D99C7F39B0}"/>
              </a:ext>
            </a:extLst>
          </p:cNvPr>
          <p:cNvSpPr/>
          <p:nvPr/>
        </p:nvSpPr>
        <p:spPr>
          <a:xfrm>
            <a:off x="4663440" y="512978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33.5</a:t>
            </a:r>
            <a:endParaRPr lang="en-US" sz="950" dirty="0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3C4DA446-1ED1-185C-5F23-0DFFFDEFDEAA}"/>
              </a:ext>
            </a:extLst>
          </p:cNvPr>
          <p:cNvSpPr/>
          <p:nvPr/>
        </p:nvSpPr>
        <p:spPr>
          <a:xfrm>
            <a:off x="6537960" y="512978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46.0</a:t>
            </a:r>
            <a:endParaRPr lang="en-US" sz="950" dirty="0"/>
          </a:p>
        </p:txBody>
      </p:sp>
      <p:sp>
        <p:nvSpPr>
          <p:cNvPr id="123" name="Text 121">
            <a:extLst>
              <a:ext uri="{FF2B5EF4-FFF2-40B4-BE49-F238E27FC236}">
                <a16:creationId xmlns:a16="http://schemas.microsoft.com/office/drawing/2014/main" id="{8984978B-0B8D-FE07-BE0E-E115EAF35622}"/>
              </a:ext>
            </a:extLst>
          </p:cNvPr>
          <p:cNvSpPr/>
          <p:nvPr/>
        </p:nvSpPr>
        <p:spPr>
          <a:xfrm>
            <a:off x="8412480" y="512978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61.1</a:t>
            </a:r>
            <a:endParaRPr lang="en-US" sz="950" dirty="0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4556C123-7489-5249-033C-915E2DD56DDB}"/>
              </a:ext>
            </a:extLst>
          </p:cNvPr>
          <p:cNvSpPr/>
          <p:nvPr/>
        </p:nvSpPr>
        <p:spPr>
          <a:xfrm>
            <a:off x="10287000" y="5129784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5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DFC36FB4-00F1-B292-A382-938D0CAE7BFC}"/>
              </a:ext>
            </a:extLst>
          </p:cNvPr>
          <p:cNvSpPr/>
          <p:nvPr/>
        </p:nvSpPr>
        <p:spPr>
          <a:xfrm>
            <a:off x="502920" y="5436108"/>
            <a:ext cx="4160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D4731811-01B2-3396-316C-4F380E8D1E62}"/>
              </a:ext>
            </a:extLst>
          </p:cNvPr>
          <p:cNvSpPr/>
          <p:nvPr/>
        </p:nvSpPr>
        <p:spPr>
          <a:xfrm>
            <a:off x="4663440" y="543610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BF25D769-6912-76E2-35E4-4AA417AF68B3}"/>
              </a:ext>
            </a:extLst>
          </p:cNvPr>
          <p:cNvSpPr/>
          <p:nvPr/>
        </p:nvSpPr>
        <p:spPr>
          <a:xfrm>
            <a:off x="6537960" y="543610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00758AC8-47D3-676B-7164-2D9D914AF7C1}"/>
              </a:ext>
            </a:extLst>
          </p:cNvPr>
          <p:cNvSpPr/>
          <p:nvPr/>
        </p:nvSpPr>
        <p:spPr>
          <a:xfrm>
            <a:off x="8412480" y="543610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5ED82FF5-C2F9-71C0-6F3C-A4D13F7D6CA2}"/>
              </a:ext>
            </a:extLst>
          </p:cNvPr>
          <p:cNvSpPr/>
          <p:nvPr/>
        </p:nvSpPr>
        <p:spPr>
          <a:xfrm>
            <a:off x="10287000" y="5436108"/>
            <a:ext cx="1874520" cy="306324"/>
          </a:xfrm>
          <a:prstGeom prst="rect">
            <a:avLst/>
          </a:prstGeom>
          <a:solidFill>
            <a:srgbClr val="F6F8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19065FA0-EE08-C32E-F0B3-224C5F9A7970}"/>
              </a:ext>
            </a:extLst>
          </p:cNvPr>
          <p:cNvSpPr/>
          <p:nvPr/>
        </p:nvSpPr>
        <p:spPr>
          <a:xfrm>
            <a:off x="594360" y="5436108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Encounters / Bed / Yr</a:t>
            </a:r>
            <a:endParaRPr lang="en-US" sz="950" dirty="0"/>
          </a:p>
        </p:txBody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74DF07EA-5DCB-F335-ED8B-7FEE7D95F0D0}"/>
              </a:ext>
            </a:extLst>
          </p:cNvPr>
          <p:cNvSpPr/>
          <p:nvPr/>
        </p:nvSpPr>
        <p:spPr>
          <a:xfrm>
            <a:off x="4663440" y="543610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6.43</a:t>
            </a:r>
            <a:endParaRPr lang="en-US" sz="950" dirty="0"/>
          </a:p>
        </p:txBody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0912F128-5FEC-5341-D6E4-2A0DFEABD061}"/>
              </a:ext>
            </a:extLst>
          </p:cNvPr>
          <p:cNvSpPr/>
          <p:nvPr/>
        </p:nvSpPr>
        <p:spPr>
          <a:xfrm>
            <a:off x="6537960" y="543610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9.21</a:t>
            </a:r>
            <a:endParaRPr lang="en-US" sz="950" dirty="0"/>
          </a:p>
        </p:txBody>
      </p:sp>
      <p:sp>
        <p:nvSpPr>
          <p:cNvPr id="133" name="Text 131">
            <a:extLst>
              <a:ext uri="{FF2B5EF4-FFF2-40B4-BE49-F238E27FC236}">
                <a16:creationId xmlns:a16="http://schemas.microsoft.com/office/drawing/2014/main" id="{045A122B-7255-7522-2DA1-96C9DD0C4919}"/>
              </a:ext>
            </a:extLst>
          </p:cNvPr>
          <p:cNvSpPr/>
          <p:nvPr/>
        </p:nvSpPr>
        <p:spPr>
          <a:xfrm>
            <a:off x="8412480" y="543610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3.96</a:t>
            </a:r>
            <a:endParaRPr lang="en-US" sz="950" dirty="0"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4DF4C740-AE88-02CB-2275-4C4D7057008F}"/>
              </a:ext>
            </a:extLst>
          </p:cNvPr>
          <p:cNvSpPr/>
          <p:nvPr/>
        </p:nvSpPr>
        <p:spPr>
          <a:xfrm>
            <a:off x="10287000" y="5436108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50" dirty="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61AA5854-78E5-CC9A-B431-6646ABF797E9}"/>
              </a:ext>
            </a:extLst>
          </p:cNvPr>
          <p:cNvSpPr/>
          <p:nvPr/>
        </p:nvSpPr>
        <p:spPr>
          <a:xfrm>
            <a:off x="502920" y="5742432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A1C47B23-A00D-E666-E277-00B2A5D63607}"/>
              </a:ext>
            </a:extLst>
          </p:cNvPr>
          <p:cNvSpPr/>
          <p:nvPr/>
        </p:nvSpPr>
        <p:spPr>
          <a:xfrm>
            <a:off x="4663440" y="574243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9D750CA8-1103-A678-55E1-5922F6F870C5}"/>
              </a:ext>
            </a:extLst>
          </p:cNvPr>
          <p:cNvSpPr/>
          <p:nvPr/>
        </p:nvSpPr>
        <p:spPr>
          <a:xfrm>
            <a:off x="6537960" y="574243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59D701EE-29DC-FFED-D3C1-C766A2832502}"/>
              </a:ext>
            </a:extLst>
          </p:cNvPr>
          <p:cNvSpPr/>
          <p:nvPr/>
        </p:nvSpPr>
        <p:spPr>
          <a:xfrm>
            <a:off x="8412480" y="574243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248AE3CE-A709-749C-5DAF-FA189B54E060}"/>
              </a:ext>
            </a:extLst>
          </p:cNvPr>
          <p:cNvSpPr/>
          <p:nvPr/>
        </p:nvSpPr>
        <p:spPr>
          <a:xfrm>
            <a:off x="10287000" y="5742432"/>
            <a:ext cx="1874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0" name="Text 138">
            <a:extLst>
              <a:ext uri="{FF2B5EF4-FFF2-40B4-BE49-F238E27FC236}">
                <a16:creationId xmlns:a16="http://schemas.microsoft.com/office/drawing/2014/main" id="{4E96654B-9865-8D8C-C260-22DEB7B2F444}"/>
              </a:ext>
            </a:extLst>
          </p:cNvPr>
          <p:cNvSpPr/>
          <p:nvPr/>
        </p:nvSpPr>
        <p:spPr>
          <a:xfrm>
            <a:off x="594360" y="5742432"/>
            <a:ext cx="40233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YoY Growth</a:t>
            </a:r>
            <a:endParaRPr lang="en-US" sz="950" dirty="0"/>
          </a:p>
        </p:txBody>
      </p:sp>
      <p:sp>
        <p:nvSpPr>
          <p:cNvPr id="141" name="Text 139">
            <a:extLst>
              <a:ext uri="{FF2B5EF4-FFF2-40B4-BE49-F238E27FC236}">
                <a16:creationId xmlns:a16="http://schemas.microsoft.com/office/drawing/2014/main" id="{18EF4956-EE86-986A-BEA3-A4649A90CC38}"/>
              </a:ext>
            </a:extLst>
          </p:cNvPr>
          <p:cNvSpPr/>
          <p:nvPr/>
        </p:nvSpPr>
        <p:spPr>
          <a:xfrm>
            <a:off x="4663440" y="574243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-18.5%</a:t>
            </a:r>
            <a:endParaRPr lang="en-US" sz="950" dirty="0"/>
          </a:p>
        </p:txBody>
      </p:sp>
      <p:sp>
        <p:nvSpPr>
          <p:cNvPr id="142" name="Text 140">
            <a:extLst>
              <a:ext uri="{FF2B5EF4-FFF2-40B4-BE49-F238E27FC236}">
                <a16:creationId xmlns:a16="http://schemas.microsoft.com/office/drawing/2014/main" id="{E2B7CB1F-EE9A-9700-6187-93199EE8CCE3}"/>
              </a:ext>
            </a:extLst>
          </p:cNvPr>
          <p:cNvSpPr/>
          <p:nvPr/>
        </p:nvSpPr>
        <p:spPr>
          <a:xfrm>
            <a:off x="6537960" y="574243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+5.7%</a:t>
            </a:r>
            <a:endParaRPr lang="en-US" sz="950" dirty="0"/>
          </a:p>
        </p:txBody>
      </p:sp>
      <p:sp>
        <p:nvSpPr>
          <p:cNvPr id="143" name="Text 141">
            <a:extLst>
              <a:ext uri="{FF2B5EF4-FFF2-40B4-BE49-F238E27FC236}">
                <a16:creationId xmlns:a16="http://schemas.microsoft.com/office/drawing/2014/main" id="{4359DBCC-0DA1-FEE2-FEB2-87C3628B0EB5}"/>
              </a:ext>
            </a:extLst>
          </p:cNvPr>
          <p:cNvSpPr/>
          <p:nvPr/>
        </p:nvSpPr>
        <p:spPr>
          <a:xfrm>
            <a:off x="8412480" y="574243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-0.2%</a:t>
            </a:r>
            <a:endParaRPr lang="en-US" sz="950" dirty="0"/>
          </a:p>
        </p:txBody>
      </p:sp>
      <p:sp>
        <p:nvSpPr>
          <p:cNvPr id="144" name="Text 142">
            <a:extLst>
              <a:ext uri="{FF2B5EF4-FFF2-40B4-BE49-F238E27FC236}">
                <a16:creationId xmlns:a16="http://schemas.microsoft.com/office/drawing/2014/main" id="{CBF6B7F8-F483-9A1B-4374-D4C061D89FB1}"/>
              </a:ext>
            </a:extLst>
          </p:cNvPr>
          <p:cNvSpPr/>
          <p:nvPr/>
        </p:nvSpPr>
        <p:spPr>
          <a:xfrm>
            <a:off x="10287000" y="5742432"/>
            <a:ext cx="187452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50" dirty="0"/>
          </a:p>
        </p:txBody>
      </p:sp>
      <p:sp>
        <p:nvSpPr>
          <p:cNvPr id="146" name="Text 144">
            <a:extLst>
              <a:ext uri="{FF2B5EF4-FFF2-40B4-BE49-F238E27FC236}">
                <a16:creationId xmlns:a16="http://schemas.microsoft.com/office/drawing/2014/main" id="{10331974-FEBA-DED3-B734-11A8C91D5C51}"/>
              </a:ext>
            </a:extLst>
          </p:cNvPr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47436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F3C46-CC34-B241-F605-2084B10B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79BC233-3AE2-8252-7FED-D75CE4BDF4CA}"/>
              </a:ext>
            </a:extLst>
          </p:cNvPr>
          <p:cNvSpPr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Each hospital was evaluated across five metrics and scored 1-10 on 20 criteria across 5 weighted pillars. </a:t>
            </a:r>
          </a:p>
          <a:p>
            <a:pPr marL="0" indent="0">
              <a:lnSpc>
                <a:spcPts val="1600"/>
              </a:lnSpc>
              <a:buNone/>
            </a:pPr>
            <a:endParaRPr lang="en-US" sz="12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Score = Weight x Raw Score; the sum of all 20 weighted scores is each hospital's Weighted Total Score out of 10.</a:t>
            </a:r>
            <a:endParaRPr lang="en-US" sz="1200" dirty="0">
              <a:solidFill>
                <a:srgbClr val="1F4D3A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AC4836-AE3D-516C-3D32-E64B57359C77}"/>
              </a:ext>
            </a:extLst>
          </p:cNvPr>
          <p:cNvSpPr/>
          <p:nvPr/>
        </p:nvSpPr>
        <p:spPr>
          <a:xfrm>
            <a:off x="502920" y="2173068"/>
            <a:ext cx="11320272" cy="3462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125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Financial Performance - 22%</a:t>
            </a:r>
          </a:p>
          <a:p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base, collection strength, billing-to-cash leakage</a:t>
            </a:r>
          </a:p>
          <a:p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Clinical Quality - 30%</a:t>
            </a:r>
          </a:p>
          <a:p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Mortality, infection, readmission, complication, recovery, satisfaction</a:t>
            </a:r>
          </a:p>
          <a:p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Claims Efficiency - 18%</a:t>
            </a:r>
          </a:p>
          <a:p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rate, denied revenue at risk, claims processing speed</a:t>
            </a:r>
          </a:p>
          <a:p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Operational Efficiency - 18%</a:t>
            </a:r>
          </a:p>
          <a:p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 wait time, encounters per bed/year, average length of stay</a:t>
            </a:r>
          </a:p>
          <a:p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Growth &amp; Scalability - 12%</a:t>
            </a:r>
          </a:p>
          <a:p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YoY revenue/encounter growth plus Capacity Headroom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r>
              <a:rPr lang="en-US" sz="1250" dirty="0"/>
              <a:t> 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3CE02D-DB8F-CF50-1724-620183C248A3}"/>
              </a:ext>
            </a:extLst>
          </p:cNvPr>
          <p:cNvSpPr/>
          <p:nvPr/>
        </p:nvSpPr>
        <p:spPr>
          <a:xfrm>
            <a:off x="731520" y="23042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5AA149-7E30-121E-0DF6-95D461A5DD47}"/>
              </a:ext>
            </a:extLst>
          </p:cNvPr>
          <p:cNvSpPr/>
          <p:nvPr/>
        </p:nvSpPr>
        <p:spPr>
          <a:xfrm>
            <a:off x="731520" y="3035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EDF74C3-52D9-32DE-E22A-541594860A69}"/>
              </a:ext>
            </a:extLst>
          </p:cNvPr>
          <p:cNvSpPr/>
          <p:nvPr/>
        </p:nvSpPr>
        <p:spPr>
          <a:xfrm>
            <a:off x="731520" y="3456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ADAE74-0D33-2EB2-29A9-8D8D2DD6E187}"/>
              </a:ext>
            </a:extLst>
          </p:cNvPr>
          <p:cNvSpPr/>
          <p:nvPr/>
        </p:nvSpPr>
        <p:spPr>
          <a:xfrm>
            <a:off x="731520" y="37673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5A98FC-339E-5263-BCFD-452F4928F497}"/>
              </a:ext>
            </a:extLst>
          </p:cNvPr>
          <p:cNvSpPr/>
          <p:nvPr/>
        </p:nvSpPr>
        <p:spPr>
          <a:xfrm>
            <a:off x="3703320" y="34747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A94BCB-96DA-74E1-4BAF-685DAF3B1C49}"/>
              </a:ext>
            </a:extLst>
          </p:cNvPr>
          <p:cNvSpPr/>
          <p:nvPr/>
        </p:nvSpPr>
        <p:spPr>
          <a:xfrm>
            <a:off x="731520" y="41879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BB4674-791D-5D05-63DD-0730D8A574EB}"/>
              </a:ext>
            </a:extLst>
          </p:cNvPr>
          <p:cNvSpPr/>
          <p:nvPr/>
        </p:nvSpPr>
        <p:spPr>
          <a:xfrm>
            <a:off x="731520" y="4498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27E2491-C982-D6AD-C6F4-46B5DBD9F5E5}"/>
              </a:ext>
            </a:extLst>
          </p:cNvPr>
          <p:cNvSpPr/>
          <p:nvPr/>
        </p:nvSpPr>
        <p:spPr>
          <a:xfrm>
            <a:off x="3703320" y="42062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A26718E-7282-D7C0-79E7-4F5501326A6B}"/>
              </a:ext>
            </a:extLst>
          </p:cNvPr>
          <p:cNvSpPr/>
          <p:nvPr/>
        </p:nvSpPr>
        <p:spPr>
          <a:xfrm>
            <a:off x="731520" y="52303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7763ACA-44DA-C31C-E189-2CEE34CA0B16}"/>
              </a:ext>
            </a:extLst>
          </p:cNvPr>
          <p:cNvSpPr/>
          <p:nvPr/>
        </p:nvSpPr>
        <p:spPr>
          <a:xfrm>
            <a:off x="3703320" y="4937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DAB3C94-7081-420A-0C82-9092042C719A}"/>
              </a:ext>
            </a:extLst>
          </p:cNvPr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B8EA16-1E09-07F4-A985-E18A2C6DAC14}"/>
              </a:ext>
            </a:extLst>
          </p:cNvPr>
          <p:cNvSpPr txBox="1"/>
          <p:nvPr/>
        </p:nvSpPr>
        <p:spPr>
          <a:xfrm>
            <a:off x="502920" y="763325"/>
            <a:ext cx="46256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was the analysis done?</a:t>
            </a:r>
          </a:p>
        </p:txBody>
      </p:sp>
    </p:spTree>
    <p:extLst>
      <p:ext uri="{BB962C8B-B14F-4D97-AF65-F5344CB8AC3E}">
        <p14:creationId xmlns:p14="http://schemas.microsoft.com/office/powerpoint/2010/main" val="182618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Greenfield General Hospital (GGH)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4EE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Clinically excellent and operationally disciplined, with a significant, but fixable revenue-cycle gap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3,600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Encounters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$2.3M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Revenue/Encounter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29.1%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2376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50.6%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46404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7.68/10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6404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Satisfaction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3.18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LOS (Days)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33.5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 Wait (Min)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9.39%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Readmission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10.89%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6404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3.58%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640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 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11201400" cy="0"/>
          </a:xfrm>
          <a:prstGeom prst="line">
            <a:avLst/>
          </a:prstGeom>
          <a:noFill/>
          <a:ln w="12700">
            <a:solidFill>
              <a:srgbClr val="E2E7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STRENGTHS</a:t>
            </a:r>
            <a:endParaRPr lang="en-US" sz="1200" dirty="0">
              <a:solidFill>
                <a:srgbClr val="1F4D3A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FIXABLE WEAKNESSES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474720"/>
            <a:ext cx="516636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Lowest mortality rate of the three hospitals (2.64%) and highest recovery rate (87.97%)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Best LOS (3.18 days) and fastest ED wait time (33.5 min) — most efficient throughput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patient satisfaction (7.68/10) and lowest HAI (3.58%) and complication (10.89%) rates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Healthy capacity headroom (6.43 enc/bed/yr) — genuine room to scale once fixed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0050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511297"/>
            <a:ext cx="5166360" cy="2237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 just 29.1% ; fails to convert billed revenue into cash.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 50.6% ; roughly half of all claims are denied.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Revenue/encounter $644; lowest of all three hospitals.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declined 18.5% YoY; the clearest signal of the revenue-cycle problem.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0050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506577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925312"/>
            <a:ext cx="11201400" cy="502920"/>
          </a:xfrm>
          <a:prstGeom prst="roundRect">
            <a:avLst>
              <a:gd name="adj" fmla="val 9091"/>
            </a:avLst>
          </a:prstGeom>
          <a:solidFill>
            <a:srgbClr val="F1F5F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25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INVESTMENT PROFILE: CLINICALLY STRONG, FINANCIALLY REPAIRABLE</a:t>
            </a:r>
            <a:endParaRPr lang="en-US" sz="1100" dirty="0">
              <a:solidFill>
                <a:srgbClr val="1F4D3A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60720" y="59253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 reimbursement risk, but addressable through a targeted RCM engagement.</a:t>
            </a:r>
            <a:endParaRPr lang="en-US" sz="900" dirty="0">
              <a:solidFill>
                <a:srgbClr val="1F4D3A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Eastpoint Community Hospital (ECH)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4EE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Steady, balanced operations with moderate returns — but capacity-constrained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3,500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Encounters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$1163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Revenue/Encounter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45.3%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2376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28.8%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46404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6.92/10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6404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Satisfaction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3.79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LOS (Days)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46.0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 Wait (Min)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14.11%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Readmission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12.60%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6404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4.29%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640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 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11201400" cy="0"/>
          </a:xfrm>
          <a:prstGeom prst="line">
            <a:avLst/>
          </a:prstGeom>
          <a:noFill/>
          <a:ln w="12700">
            <a:solidFill>
              <a:srgbClr val="E2E7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STRENGTHS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WEAKNESSES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675888"/>
            <a:ext cx="4842164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Good financial balance — $1,163 revenue/encounter and 45.3% collection rate.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Strongest headline revenue growth of the three hospitals (+5.7% YoY)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Moderate, acceptable quality profile — no single metric is alarming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Mid-pack operational efficiency, consistent performance across the 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453542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506577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3474720"/>
            <a:ext cx="5166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Patient satisfaction mediocre at 6.92/10, below the 7.0 mark.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Running at 9.21 encounters/bed/year — near-max capacity, almost no headroom.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Encounter volume falling (-5.0% YoY) even as revenue rises.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33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standout strength on any pillar — a balanced but undifferentiated profile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453542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506577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925312"/>
            <a:ext cx="11201400" cy="502920"/>
          </a:xfrm>
          <a:prstGeom prst="roundRect">
            <a:avLst>
              <a:gd name="adj" fmla="val 9091"/>
            </a:avLst>
          </a:prstGeom>
          <a:solidFill>
            <a:srgbClr val="F1F5F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25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INVESTMENT PROFILE: SAFE, STABLE, BUT CAPACITY-CAPPED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59253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Moderate risk and moderate returns; its growth story is real but structurally limited by bed capacity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Riverside Medical Centre (RMC)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4EE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strongest financial performer, but the weakest clinical-quality profile of the three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3,800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Encounters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$1744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Revenue/Encounter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56.9%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2376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14.6%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464040" y="1280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5.53/10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6404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Satisfaction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LOS (Days)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61.1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ED Wait (Min)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19.66%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Readmission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17.82%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64040" y="2148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5.58%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640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 Rate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11201400" cy="0"/>
          </a:xfrm>
          <a:prstGeom prst="line">
            <a:avLst/>
          </a:prstGeom>
          <a:noFill/>
          <a:ln w="12700">
            <a:solidFill>
              <a:srgbClr val="E2E7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STRENGTHS</a:t>
            </a:r>
            <a:endParaRPr lang="en-US" sz="1200" dirty="0">
              <a:solidFill>
                <a:srgbClr val="1F4D3A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31821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CRITICAL WEAKNESSES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4747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Revenue/encounter $1,744 — highest by far, and the strongest collection rate (56.9%)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0050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0050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Lowest denial rate (14.6%) — the most mature claims/revenue-cycle operation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3542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53542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patient volume (3,800) — strongest demonstrated market demand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50657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+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06577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Largest facility (480 beds) — greatest current scale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34747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mortality (6.16%), complication (17.82%), and readmission (19.66%) rates of the three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40050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40050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Lowest patient satisfaction (5.53/10) — a reputational and retention risk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53542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−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92240" y="4535424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Longest LOS (5.03 days) and ED wait (61 min) — clear throughput bottlenecks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50657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4A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92240" y="5065776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 capacity headroom (3.96 enc/bed/yr) reflects chronic underuse, not unmet demand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925312"/>
            <a:ext cx="11201400" cy="502920"/>
          </a:xfrm>
          <a:prstGeom prst="roundRect">
            <a:avLst>
              <a:gd name="adj" fmla="val 9091"/>
            </a:avLst>
          </a:prstGeom>
          <a:solidFill>
            <a:srgbClr val="F1F5F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25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INVESTMENT PROFILE: FINANCIALLY DOMINANT, CLINICALLY WEAKEST</a:t>
            </a:r>
            <a:endParaRPr lang="en-US" sz="1100" dirty="0">
              <a:solidFill>
                <a:srgbClr val="1F4D3A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60720" y="59253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Strong balance sheet offset by materially weaker patient-safety outcomes — regulatory and reputational risk over a 5-year hold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COMPARATIVE ANALYSIS</a:t>
            </a:r>
            <a:endParaRPr lang="en-US" sz="1200" dirty="0">
              <a:solidFill>
                <a:srgbClr val="1F4D3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Financial Performance (22%)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79"/>
            <a:ext cx="11155680" cy="896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 generates the strongest revenue base and collects the highest share of what it bills. GGH's revenue is smallest and its leakage</a:t>
            </a:r>
          </a:p>
          <a:p>
            <a:pPr marL="0" indent="0">
              <a:lnSpc>
                <a:spcPts val="15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highest , but this traces to a claims-and-collections gap, not weak patient demand.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62306895"/>
              </p:ext>
            </p:extLst>
          </p:nvPr>
        </p:nvGraphicFramePr>
        <p:xfrm>
          <a:off x="502920" y="2971800"/>
          <a:ext cx="3689701" cy="3246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505456"/>
            <a:ext cx="3840479" cy="3712464"/>
          </a:xfrm>
          <a:prstGeom prst="roundRect">
            <a:avLst>
              <a:gd name="adj" fmla="val 1348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0253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Scorecard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Criterion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7844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18119" y="2825496"/>
            <a:ext cx="3886199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Total Revenue		           3                 5                  8	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781812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Collection Rate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978408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7844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Leakage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978408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NorthBridge Health Investment Fund  |  Hospital Investment Case  |  Confidential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12</a:t>
            </a: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7F99B2-F5A1-5776-86EE-F51943999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621" y="3034145"/>
            <a:ext cx="3579779" cy="3028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Clinical Quality (30%) — largest weight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 leads on every clinical-quality metric measured. RMC, despite its financial strength, posts the weakest results across this entire </a:t>
            </a:r>
          </a:p>
          <a:p>
            <a:pPr marL="0" indent="0">
              <a:lnSpc>
                <a:spcPts val="15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pillar. This is the single most heavily weighted pillar in the framework.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304314397"/>
              </p:ext>
            </p:extLst>
          </p:nvPr>
        </p:nvGraphicFramePr>
        <p:xfrm>
          <a:off x="502920" y="2825496"/>
          <a:ext cx="3679974" cy="339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514600"/>
            <a:ext cx="4069080" cy="3703320"/>
          </a:xfrm>
          <a:prstGeom prst="roundRect">
            <a:avLst>
              <a:gd name="adj" fmla="val 1348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11226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Scorecard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Criterion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7844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18120" y="2825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Mortality Rate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97840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7844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HAI Rate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978408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7844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Readmission Rate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978408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18120" y="41422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Complication Rate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9784080" y="41422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378440" y="41422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72800" y="41422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18120" y="45811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Recovery Rate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9784080" y="458114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378440" y="458114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972800" y="458114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18120" y="50200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Patient Satisfaction</a:t>
            </a:r>
            <a:endParaRPr lang="en-US" sz="930" dirty="0"/>
          </a:p>
        </p:txBody>
      </p:sp>
      <p:sp>
        <p:nvSpPr>
          <p:cNvPr id="33" name="Text 30"/>
          <p:cNvSpPr/>
          <p:nvPr/>
        </p:nvSpPr>
        <p:spPr>
          <a:xfrm>
            <a:off x="9784080" y="502005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378440" y="502005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972800" y="502005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13</a:t>
            </a:r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3AF06DB-D7D4-270C-F876-DA0E328E0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894" y="2825497"/>
            <a:ext cx="3452346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Claims Efficiency (18%)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RMC's revenue-cycle operation is the most mature, with the lowest denial rate and least revenue at risk. GGH's high denial rate is the</a:t>
            </a:r>
          </a:p>
          <a:p>
            <a:pPr marL="0" indent="0">
              <a:lnSpc>
                <a:spcPts val="15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single largest identifiable, fixable lever for improving its financial position.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699947052"/>
              </p:ext>
            </p:extLst>
          </p:nvPr>
        </p:nvGraphicFramePr>
        <p:xfrm>
          <a:off x="502920" y="2825496"/>
          <a:ext cx="3767523" cy="3392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03820" y="2478024"/>
            <a:ext cx="4069080" cy="3593592"/>
          </a:xfrm>
          <a:prstGeom prst="roundRect">
            <a:avLst>
              <a:gd name="adj" fmla="val 1348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16712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Scorecard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Criterion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7844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18120" y="2825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97840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7844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Denied Revenue at Risk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978408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7844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Processing Days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978408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14</a:t>
            </a: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31F6F44-D7AB-7CE3-55D7-90D51C15C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163" y="2825496"/>
            <a:ext cx="3273357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Operational Efficiency (18%)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 has the shortest ED wait time and shortest average length of stay. ECH posts the highest raw encounters/bed/year — but as the </a:t>
            </a:r>
          </a:p>
          <a:p>
            <a:pPr marL="0" indent="0">
              <a:lnSpc>
                <a:spcPts val="15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next slide shows, that signals near-max capacity, not superior efficiency.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51763261"/>
              </p:ext>
            </p:extLst>
          </p:nvPr>
        </p:nvGraphicFramePr>
        <p:xfrm>
          <a:off x="502920" y="2825496"/>
          <a:ext cx="3358961" cy="339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514600"/>
            <a:ext cx="4069080" cy="3703320"/>
          </a:xfrm>
          <a:prstGeom prst="roundRect">
            <a:avLst>
              <a:gd name="adj" fmla="val 1348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Scorecard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Criterion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7844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18120" y="2825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ED Wait Time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97840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7844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Encounters per Bed/Yr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978408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7844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Avg LOS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978408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15</a:t>
            </a: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1C9096E-2E19-5F1F-E11F-343C11E2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881" y="2825496"/>
            <a:ext cx="3605838" cy="3225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Growth &amp; Scalability (12%)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ECH's revenue grew fastest (+5.7%), but it runs at 9.21 encounters/bed/year, near-max capacity, with little room to scale. GGH’s </a:t>
            </a:r>
          </a:p>
          <a:p>
            <a:pPr marL="0" indent="0">
              <a:lnSpc>
                <a:spcPts val="15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declined (-18.5%) but it has healthy headroom (6.43 enc/bed/yr) once its RCM gap is fixed.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68740281"/>
              </p:ext>
            </p:extLst>
          </p:nvPr>
        </p:nvGraphicFramePr>
        <p:xfrm>
          <a:off x="502920" y="192024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377440"/>
            <a:ext cx="4069080" cy="3840480"/>
          </a:xfrm>
          <a:prstGeom prst="roundRect">
            <a:avLst>
              <a:gd name="adj" fmla="val 1348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574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Scorecard Contribution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Criterion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8408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C7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7844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2514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B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18120" y="2825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Revenue YoY Growth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97840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7844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Encounter Volume YoY Growth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978408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7844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326440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Capacity Headroom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978408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370332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Total Scorecard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Across all 5 pillars and 20 criteria, Greenfield General Hospital finishes first on weighted composite score, driven by clinical-quality </a:t>
            </a:r>
          </a:p>
          <a:p>
            <a:pPr marL="0" indent="0">
              <a:lnSpc>
                <a:spcPts val="1600"/>
              </a:lnSpc>
              <a:buNone/>
            </a:pPr>
            <a:endParaRPr lang="en-US" sz="16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leadership and genuine, capacity-backed room to scale.</a:t>
            </a:r>
            <a:endParaRPr lang="en-US" sz="1600" dirty="0">
              <a:solidFill>
                <a:srgbClr val="1F4D3A"/>
              </a:solidFill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26350484"/>
              </p:ext>
            </p:extLst>
          </p:nvPr>
        </p:nvGraphicFramePr>
        <p:xfrm>
          <a:off x="502920" y="2601884"/>
          <a:ext cx="4759036" cy="3616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 3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17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09675-68BF-7333-87A9-42DFC005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465" y="2212848"/>
            <a:ext cx="6301048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Summary of Findings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1" y="1213658"/>
            <a:ext cx="10863072" cy="442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20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400"/>
              </a:lnSpc>
              <a:buNone/>
            </a:pPr>
            <a:endParaRPr lang="en-US" sz="1200" b="1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 leads on clinical quality and operational discipline: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Lowest mortality, HAI, readmission, and complication rates; highest recovery rate; shortest ED wait and LOS.</a:t>
            </a:r>
          </a:p>
          <a:p>
            <a:pPr marL="0" indent="0">
              <a:lnSpc>
                <a:spcPts val="1400"/>
              </a:lnSpc>
              <a:buNone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GGH's financial weakness is a fixable revenue-cycle problem: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50.6% denial rate and 29.1% collection rate — not a demand or quality problem — explain its low revenue score.</a:t>
            </a:r>
          </a:p>
          <a:p>
            <a:pPr>
              <a:lnSpc>
                <a:spcPts val="14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RMC is financially dominant but clinically the weakest: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revenue/encounter and best collections, offset by the highest mortality, complication, and readmission rates.</a:t>
            </a:r>
          </a:p>
          <a:p>
            <a:pPr>
              <a:lnSpc>
                <a:spcPts val="14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ECH's growth is real but structurally capped: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Fastest revenue growth (+5.7%) is offset by near-max bed utilization (9.21 enc/bed/yr) — little room left to scale.</a:t>
            </a:r>
          </a:p>
          <a:p>
            <a:pPr>
              <a:lnSpc>
                <a:spcPts val="14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GGH wins on weighted composite score: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6.30 / 10 vs. 6.09 (ECH) and 5.93 (RMC); a narrow but consistent lead across the 20-criteria framework.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58775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58775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529584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447141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541324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541324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Investment Recommendation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960120"/>
          </a:xfrm>
          <a:prstGeom prst="roundRect">
            <a:avLst>
              <a:gd name="adj" fmla="val 5714"/>
            </a:avLst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RECOMMENDED: Greenfield General Hospital (GGH)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score: 6.30 / 10 ; the highest of the three candidates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326880" y="1463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6.30 / 10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3611880" cy="3005051"/>
          </a:xfrm>
          <a:prstGeom prst="roundRect">
            <a:avLst>
              <a:gd name="adj" fmla="val 2222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606040"/>
            <a:ext cx="3611880" cy="4572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GGH?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" y="3246119"/>
            <a:ext cx="3334512" cy="2364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clinical-quality scores across all six metrics.</a:t>
            </a:r>
          </a:p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Denial rate and revenue are fixable via RCM engagement, not demand or care issues.</a:t>
            </a:r>
          </a:p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Healthy capacity headroom (6.43 enc/bed/yr) to convert reform into real growth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980" dirty="0"/>
          </a:p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86968" y="5038344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334256" y="2606040"/>
            <a:ext cx="3611880" cy="3005051"/>
          </a:xfrm>
          <a:prstGeom prst="roundRect">
            <a:avLst>
              <a:gd name="adj" fmla="val 2222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2606040"/>
            <a:ext cx="3611880" cy="4572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17136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not ECH?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8996" y="3246119"/>
            <a:ext cx="3324260" cy="18578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Balanced but average; no standout performance on any pillar.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Growth is capped by near-max bed utilization (9.21 enc/bed/yr).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Mid-pack clinical quality limits long-run upside versus GGH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718304" y="4142232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718304" y="5038344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165592" y="2606040"/>
            <a:ext cx="3611880" cy="3005051"/>
          </a:xfrm>
          <a:prstGeom prst="roundRect">
            <a:avLst>
              <a:gd name="adj" fmla="val 2222"/>
            </a:avLst>
          </a:prstGeom>
          <a:solidFill>
            <a:srgbClr val="F6F8F7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5592" y="2606040"/>
            <a:ext cx="3611880" cy="4572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8" name="Text 26"/>
          <p:cNvSpPr/>
          <p:nvPr/>
        </p:nvSpPr>
        <p:spPr>
          <a:xfrm>
            <a:off x="8348472" y="2606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not RMC?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48472" y="3246120"/>
            <a:ext cx="32461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Highest mortality, complication, and readmission rates of the three.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Lowest patient satisfaction (5.53/10) — reputational and retention risk.</a:t>
            </a: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Financial strength offset by regulatory/quality risk over a 5-year hold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980" dirty="0"/>
          </a:p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549640" y="4142232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549640" y="5038344"/>
            <a:ext cx="3044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Risks, the 90-Day Roadmap and growth opportunities for GGH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296785"/>
            <a:ext cx="11320272" cy="5488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KEY RISKS TO MONITOR</a:t>
            </a:r>
          </a:p>
          <a:p>
            <a:pPr marL="0" indent="0">
              <a:buNone/>
            </a:pPr>
            <a:endParaRPr lang="en-US" sz="1400" b="1" kern="0" spc="1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Smallest current revenue base means a slower absolute payback even after collections improve.</a:t>
            </a:r>
          </a:p>
          <a:p>
            <a:pPr>
              <a:lnSpc>
                <a:spcPts val="13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RCM turnaround execution risk; improvement depends on successfully hiring/engaging a revenue-cycle partner.</a:t>
            </a:r>
          </a:p>
          <a:p>
            <a:pPr>
              <a:lnSpc>
                <a:spcPts val="13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ECH and RMC remain credible alternatives if GGH's denial-rate fix stalls.</a:t>
            </a:r>
          </a:p>
          <a:p>
            <a:pPr>
              <a:lnSpc>
                <a:spcPts val="130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r>
              <a:rPr lang="en-US" sz="14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90-DAY PATH TO CLOSE:</a:t>
            </a:r>
          </a:p>
          <a:p>
            <a:pPr>
              <a:lnSpc>
                <a:spcPts val="1300"/>
              </a:lnSpc>
            </a:pPr>
            <a:endParaRPr lang="en-US" sz="1400" b="1" kern="0" spc="1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Weeks 1-4: Confirmatory due diligence on GGH's revenue-cycle operations and top denial-reason categories.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Weeks 5-8: Engage a revenue-cycle-management partner to design the denial-reduction and collections work plan.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Weeks 9-12: Finalize investment terms, capacity-expansion scope, and a 12-month performance covenant tied to collection rate and denial rate.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b="1" kern="0" spc="1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GROWTH OPPORTUNITIES ONCE THE RCM GAP IS CLOSED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Recover denied revenue: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$4.06M in denied claims at risk; even a partial recovery materially changes GGH's cash position.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Reinvest in capacity: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6.43 enc/bed/yr headroom supports real volume growth once cash flow stabilizes.</a:t>
            </a:r>
          </a:p>
          <a:p>
            <a:pPr>
              <a:lnSpc>
                <a:spcPts val="1250"/>
              </a:lnSpc>
            </a:pP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r>
              <a:rPr lang="en-US" sz="1400" b="1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Protect the quality shield: </a:t>
            </a:r>
            <a:r>
              <a:rPr lang="en-US" sz="1400" dirty="0">
                <a:solidFill>
                  <a:srgbClr val="1F4D3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Best-in-class clinical outcomes are the hardest thing for a competitor to replicate. Protect them through the transition</a:t>
            </a:r>
            <a:endParaRPr lang="en-US" sz="1400" dirty="0">
              <a:solidFill>
                <a:srgbClr val="1F4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250"/>
              </a:lnSpc>
            </a:pPr>
            <a:endParaRPr lang="en-US" sz="1200" dirty="0"/>
          </a:p>
          <a:p>
            <a:pPr>
              <a:lnSpc>
                <a:spcPts val="1250"/>
              </a:lnSpc>
            </a:pPr>
            <a:endParaRPr lang="en-US" sz="1200" dirty="0"/>
          </a:p>
          <a:p>
            <a:pPr>
              <a:lnSpc>
                <a:spcPts val="1250"/>
              </a:lnSpc>
            </a:pPr>
            <a:endParaRPr lang="en-US" sz="1200" dirty="0"/>
          </a:p>
          <a:p>
            <a:pPr>
              <a:lnSpc>
                <a:spcPts val="1250"/>
              </a:lnSpc>
            </a:pPr>
            <a:endParaRPr lang="en-US" sz="1200" dirty="0"/>
          </a:p>
          <a:p>
            <a:pPr>
              <a:lnSpc>
                <a:spcPts val="1250"/>
              </a:lnSpc>
            </a:pPr>
            <a:endParaRPr lang="en-US" sz="1200" dirty="0"/>
          </a:p>
          <a:p>
            <a:pPr>
              <a:lnSpc>
                <a:spcPts val="1300"/>
              </a:lnSpc>
            </a:pPr>
            <a:endParaRPr lang="en-US" sz="1200" dirty="0"/>
          </a:p>
          <a:p>
            <a:pPr>
              <a:lnSpc>
                <a:spcPts val="1300"/>
              </a:lnSpc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22812"/>
            <a:ext cx="5486400" cy="67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92571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50"/>
              </a:lnSpc>
            </a:pPr>
            <a:endParaRPr lang="en-US" sz="970" dirty="0"/>
          </a:p>
          <a:p>
            <a:pPr marL="0" indent="0">
              <a:lnSpc>
                <a:spcPts val="1250"/>
              </a:lnSpc>
              <a:buNone/>
            </a:pP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720840" y="239572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720840" y="317296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663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5029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4663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80560" y="5029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5320" y="4663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75320" y="5029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Investment Case for NorthBridge Health Investment Fund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34F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19072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RECOMMENDED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Greenfield General (GGH)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6.30/10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Score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Clinically excellent, operationally disciplined, with a fixable financial gap and real room to scale.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79976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34F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7190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2nd Choice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62856" y="2011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Eastpoint Community (ECH)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2856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6.09/10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62856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Score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62856" y="3474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Safe and stable with moderate returns, but growth is structurally capped by bed capacity.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11312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34F3E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7190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3rd Choice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4192" y="2011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Riverside Medical (RMC)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94192" y="25603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5.93/10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94192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Weighted Score / 10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94192" y="34747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Financially strongest, but the weakest clinical-quality and satisfaction profile of the three.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2080</Words>
  <Application>Microsoft Office PowerPoint</Application>
  <PresentationFormat>Widescreen</PresentationFormat>
  <Paragraphs>512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Stella Obase</cp:lastModifiedBy>
  <cp:revision>10</cp:revision>
  <dcterms:created xsi:type="dcterms:W3CDTF">2026-07-23T03:50:26Z</dcterms:created>
  <dcterms:modified xsi:type="dcterms:W3CDTF">2026-07-25T01:47:08Z</dcterms:modified>
</cp:coreProperties>
</file>